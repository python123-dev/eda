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2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3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1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Marks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A6FBB"/>
              </a:solidFill>
              <a:ln w="9525" cap="flat">
                <a:solidFill>
                  <a:srgbClr val="2A6FBB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5</c:v>
                </c:pt>
                <c:pt idx="7">
                  <c:v>6</c:v>
                </c:pt>
                <c:pt idx="8">
                  <c:v>7</c:v>
                </c:pt>
                <c:pt idx="9">
                  <c:v>8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45</c:v>
                </c:pt>
                <c:pt idx="1">
                  <c:v>52</c:v>
                </c:pt>
                <c:pt idx="2">
                  <c:v>50</c:v>
                </c:pt>
                <c:pt idx="3">
                  <c:v>60</c:v>
                </c:pt>
                <c:pt idx="4">
                  <c:v>68</c:v>
                </c:pt>
                <c:pt idx="5">
                  <c:v>70</c:v>
                </c:pt>
                <c:pt idx="6">
                  <c:v>76</c:v>
                </c:pt>
                <c:pt idx="7">
                  <c:v>84</c:v>
                </c:pt>
                <c:pt idx="8">
                  <c:v>90</c:v>
                </c:pt>
                <c:pt idx="9">
                  <c:v>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C6F-49DA-91DD-FEE93C86C6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77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770"/>
                    </a:solidFill>
                    <a:latin typeface="Arial"/>
                  </a:rPr>
                  <a:t>Study hours per day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77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770"/>
                    </a:solidFill>
                    <a:latin typeface="Arial"/>
                  </a:rPr>
                  <a:t>Marks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84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4284B"/>
                </a:solidFill>
                <a:latin typeface="Arial"/>
              </a:rPr>
              <a:t>Average marks by department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marks</c:v>
                </c:pt>
              </c:strCache>
            </c:strRef>
          </c:tx>
          <c:spPr>
            <a:solidFill>
              <a:srgbClr val="2A6FB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CSE</c:v>
                </c:pt>
                <c:pt idx="1">
                  <c:v>ECE</c:v>
                </c:pt>
                <c:pt idx="2">
                  <c:v>IT</c:v>
                </c:pt>
                <c:pt idx="3">
                  <c:v>MECH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</c:v>
                </c:pt>
                <c:pt idx="1">
                  <c:v>72</c:v>
                </c:pt>
                <c:pt idx="2">
                  <c:v>75</c:v>
                </c:pt>
                <c:pt idx="3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1E-4020-A98A-2577463B0F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84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4284B"/>
                </a:solidFill>
                <a:latin typeface="Arial"/>
              </a:rPr>
              <a:t>CSE pass marks rose 26 points in 5 years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CSE</c:v>
                </c:pt>
              </c:strCache>
            </c:strRef>
          </c:tx>
          <c:spPr>
            <a:ln w="38100" cap="flat">
              <a:solidFill>
                <a:srgbClr val="2A6FB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68</c:v>
                </c:pt>
                <c:pt idx="2">
                  <c:v>74</c:v>
                </c:pt>
                <c:pt idx="3">
                  <c:v>81</c:v>
                </c:pt>
                <c:pt idx="4">
                  <c:v>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709-4950-8F92-593B9E9ACF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ECE</c:v>
                </c:pt>
              </c:strCache>
            </c:strRef>
          </c:tx>
          <c:spPr>
            <a:ln w="38100" cap="flat">
              <a:solidFill>
                <a:srgbClr val="B8C0C8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58</c:v>
                </c:pt>
                <c:pt idx="1">
                  <c:v>60</c:v>
                </c:pt>
                <c:pt idx="2">
                  <c:v>63</c:v>
                </c:pt>
                <c:pt idx="3">
                  <c:v>64</c:v>
                </c:pt>
                <c:pt idx="4">
                  <c:v>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709-4950-8F92-593B9E9ACFD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IT</c:v>
                </c:pt>
              </c:strCache>
            </c:strRef>
          </c:tx>
          <c:spPr>
            <a:ln w="38100" cap="flat">
              <a:solidFill>
                <a:srgbClr val="D3D9D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60</c:v>
                </c:pt>
                <c:pt idx="1">
                  <c:v>62</c:v>
                </c:pt>
                <c:pt idx="2">
                  <c:v>64</c:v>
                </c:pt>
                <c:pt idx="3">
                  <c:v>67</c:v>
                </c:pt>
                <c:pt idx="4">
                  <c:v>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709-4950-8F92-593B9E9ACF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77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242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Everything today uses small student and used-car datasets so we can see every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hours, four blocks. Each block builds on the previous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= look at the data before you trust it or model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Pandas is the tool for tabular data. Every later topic starts from a DataFrame.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rarely import numpy for its own sake here, but it powers pandas, scipy and matplotlib.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Statistics lets us say how sure we are. p &lt; 0.05 means the difference is unlikely to be luck.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Seaborn is built on matplotlib and reads DataFrames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 is the label, values are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calls answer: what is in this file?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 includes the end label, iloc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describe() to spot 480 and 230.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Centre and spread. If mean and median differ a lot, outliers are pulling the mean.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Scatter plot first, then correlation, then the best-fit line. Correlation is not causation.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H0 = no difference. If p &lt; 0.05 we reject H0. ANOVA first for 3+ groups; Tukey HSD finds which.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 models only understand numbers. Label for 2 categories, one-hot for 3+.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km_driven is in tens of thousands, price is single digits. Scaling puts them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Choosing the chart is choosing the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chart, one message. Title states the finding. Colour the hero, grey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handy during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task maps to a Try it yourself cell in the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with Python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 ·  NumPy  ·  Statistics  ·  Matplotlib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course for students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874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6517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Series, DataFrames, indexing, apply, groupby, cleaning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42032" y="137160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79192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679192" y="1874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2679192" y="26517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Descriptive, bivariate, hypothesis testing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26864" y="137160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64024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764024" y="1874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764024" y="26517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and scaling for ML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711696" y="137160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48856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848856" y="1874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848856" y="26517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Seaborn, storytelling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EDA?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a dataset to understand it, clean it, and find patterns, before any modelling.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21031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21031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121408" y="21031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2A6FBB"/>
          </a:solidFill>
          <a:ln w="12700">
            <a:solidFill>
              <a:srgbClr val="2A6FB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21408" y="21031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2121408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785616" y="21031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85616" y="21031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785616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stats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49824" y="21031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2A6FBB"/>
          </a:solidFill>
          <a:ln w="12700">
            <a:solidFill>
              <a:srgbClr val="2A6FB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49824" y="21031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449824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14032" y="21031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14032" y="21031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114032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data in, bad decisions out. EDA comes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Pandas?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IT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SQL, inside Python.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8288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is a table: rows and labelled columns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CSV in one line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sort, group and clean without loops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millions of rows; Excel struggles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480560" y="1828800"/>
            <a:ext cx="4206240" cy="2377440"/>
          </a:xfrm>
          <a:prstGeom prst="roundRect">
            <a:avLst>
              <a:gd name="adj" fmla="val 2308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17720" y="192024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pd.read_csv("students.csv")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df[df["marks"] &gt; 70]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df.groupby("dept")["marks"].mean()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NumPy?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IT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maths on whole arrays at once.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8288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Vectorised: no slow Python for-loops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is built on top of NumPy arrays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random sample data (reproducible)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maths: fit a line, mean, std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480560" y="1828800"/>
            <a:ext cx="4206240" cy="2377440"/>
          </a:xfrm>
          <a:prstGeom prst="roundRect">
            <a:avLst>
              <a:gd name="adj" fmla="val 2308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17720" y="192024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np.random.seed(42)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np.random.normal(65, 8, 30)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x.mean(), x.std()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np.polyfit(hours, marks, 1)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Statistics?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IT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'it looks different' into evidence.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8288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Describe: mean, median, spread, outliers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Relate: do two columns move together (r)?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is a difference real or luck (p-value)?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wrong conclusions from small samples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480560" y="1828800"/>
            <a:ext cx="4206240" cy="2377440"/>
          </a:xfrm>
          <a:prstGeom prst="roundRect">
            <a:avLst>
              <a:gd name="adj" fmla="val 2308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17720" y="192024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marks.describe()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df["hours"].corr(df["marks"])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stats.ttest_ind(old, new)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stats.f_oneway(cse, ece, mech)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Matplotlib and Seaborn?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IT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 shows in 3 seconds what 1000 numbers hide.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8288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trends, outliers and comparisons instantly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Matplotlib: full control over every detail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Seaborn: pretty statistical charts in 1 line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convince people; tables do not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480560" y="1828800"/>
            <a:ext cx="4206240" cy="2377440"/>
          </a:xfrm>
          <a:prstGeom prst="roundRect">
            <a:avLst>
              <a:gd name="adj" fmla="val 2308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17720" y="192024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plt.bar(dept, marks)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plt.title("Average marks")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sns.boxplot(data=df, x="dept",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y="marks")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8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7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Fundamentals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1: Series to cleaning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Series: one labelled column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 · PANDAS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 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analyse one student's marks, labelled by name.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659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that remembers a label for each item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 applies to every item: marks + 5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.mean(), .max(), .min() in one call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value_counts() counts repeats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89120" y="1965960"/>
            <a:ext cx="429768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6280" y="205740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pd.Series([78,65,88,72,55],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index=["Arun","Bala","Chitra",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"Divya","Elango"])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marks[marks &gt;= 60]       # who passed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marks.mean()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city.value_counts()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= one column. DataFrame = many Series.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DataFrame: a whole table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 · PANDAS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 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class list from CSV and inspect it before doing anything.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659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and columns; each column is a Series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head(), shape, info() = first look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 gives statistics at once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unique() and value_counts() for text columns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89120" y="1965960"/>
            <a:ext cx="429768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6280" y="205740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pd.read_csv("data/students.csv")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        # (rows, columns)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df["dept"].value_counts()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 head(), info(), describe()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Indexing: pick what you need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 · PANDAS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 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only CSE students who scored above 80.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659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df["col"] picks columns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iloc: by position (end excluded)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loc: by label (end included)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with &amp; and |, each in brackets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89120" y="1965960"/>
            <a:ext cx="429768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6280" y="205740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df[["name", "marks"]]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df.iloc[0:3, 0:2]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df.loc[0:2, ["name","marks"]]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df[(df["dept"] == "CSE")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&amp; (df["marks"] &gt; 80)]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filtering is the most used pandas skill.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and column operations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 · PANDAS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 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total and average marks, then rank students.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column from existing ones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rename, drop for tidying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sort_values to rank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reset_index after dropping rows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1965960"/>
            <a:ext cx="429768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205740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df["total"] = df["maths"] + df["physics"]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df["average"] = df["total"] / 2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df.rename(columns={"maths":"math_marks"})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df.drop(columns=["result"])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df.sort_values("total", ascending=False)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columns with plain arithmetic: no loops.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apply, lambda and 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 · PANDAS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 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marks into grades A / B / C / Fail.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runs your function on every value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= one-line function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axis=1 applies to whole rows (if/else rules)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replaces values using a dictionary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1965960"/>
            <a:ext cx="429768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205740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get_grade(m):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 &gt;= 90: return "A"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m &gt;= 75: return "B"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df["grade"] = df["marks"].apply(get_grade)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df["pts"] = df["grade"].map({"A":10,"B":8})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apply for if/else logic; plain arithmetic is faster otherwise.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groupby: split, calculate, combine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 · PANDAS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 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 has the best average marks?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a column, then calculate per group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 gives many numbers at once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two columns for finer detail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pivot_table shows the same as a grid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1965960"/>
            <a:ext cx="429768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205740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df.groupby("dept")["marks"].mean()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df.groupby("dept")["marks"].agg(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["count","mean","min","max"])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pd.pivot_table(df, values="marks",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index="dept", columns="gender")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question is a groupby: sales per region, marks per dept.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Cleaning: real data is messy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 · PANDAS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 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messy file has gaps, duplicates, typos and impossible values.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659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fillna (mean/median) or dropna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Duplicates: drop_duplicates()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strip, title, upper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types, outliers (marks 480 → 48), merge tables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89120" y="1965960"/>
            <a:ext cx="429768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6280" y="205740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df["marks"].fillna(df["marks"].median())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df.drop_duplicates()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df["name"].str.strip().str.title()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df["age"].astype(int)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pd.to_datetime(df["join_date"])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df.merge(hostel, on="name", how="left")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is step 1 of every analysis.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8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7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2: describe, relate, test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 · STATISTICS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 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a class's marks with a few numbers instead of reading every row.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1280160" cy="1463040"/>
          </a:xfrm>
          <a:prstGeom prst="roundRect">
            <a:avLst>
              <a:gd name="adj" fmla="val 5714"/>
            </a:avLst>
          </a:prstGeom>
          <a:solidFill>
            <a:srgbClr val="1428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965960"/>
            <a:ext cx="12801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28800" y="1965960"/>
            <a:ext cx="1280160" cy="1463040"/>
          </a:xfrm>
          <a:prstGeom prst="roundRect">
            <a:avLst>
              <a:gd name="adj" fmla="val 5714"/>
            </a:avLst>
          </a:prstGeom>
          <a:solidFill>
            <a:srgbClr val="2A6FB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828800" y="1965960"/>
            <a:ext cx="12801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std, range, IQR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00400" y="1965960"/>
            <a:ext cx="1280160" cy="1463040"/>
          </a:xfrm>
          <a:prstGeom prst="roundRect">
            <a:avLst>
              <a:gd name="adj" fmla="val 5714"/>
            </a:avLst>
          </a:prstGeom>
          <a:solidFill>
            <a:srgbClr val="5C8FC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00400" y="1965960"/>
            <a:ext cx="12801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skew, histogram, boxplot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5661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≈ median → balanced.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far from median → outliers.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54880" y="1965960"/>
            <a:ext cx="393192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92040" y="205740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marks.mean(); marks.median()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marks.std()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= marks.quantile(0.25)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= marks.quantile(0.75)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q3 - q1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df[["hours","marks"]].describe()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report centre AND spread.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 · STATISTICS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 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students who study more score more?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874520"/>
          <a:ext cx="42062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937760" y="19202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near +1: strong positive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near 0: no linear link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Best-fit line: marks = slope × hours + intercept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 ≠ one causes the other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937760" y="3566160"/>
            <a:ext cx="374904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74920" y="36576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df["hours"].corr(df["marks"])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np.polyfit(hours, marks, 1)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r is about 0.99: more study, higher marks.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 · STATISTICS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 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teaching method: do its students really score differently, or is it luck?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384048" cy="384048"/>
          </a:xfrm>
          <a:prstGeom prst="ellipse">
            <a:avLst/>
          </a:prstGeom>
          <a:solidFill>
            <a:srgbClr val="2A6FBB"/>
          </a:solidFill>
          <a:ln w="12700">
            <a:solidFill>
              <a:srgbClr val="2A6FB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920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H0 and H1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2487168"/>
            <a:ext cx="384048" cy="384048"/>
          </a:xfrm>
          <a:prstGeom prst="ellipse">
            <a:avLst/>
          </a:prstGeom>
          <a:solidFill>
            <a:srgbClr val="2A6FBB"/>
          </a:solidFill>
          <a:ln w="12700">
            <a:solidFill>
              <a:srgbClr val="2A6FB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4871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test and α = 0.05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3054096"/>
            <a:ext cx="384048" cy="384048"/>
          </a:xfrm>
          <a:prstGeom prst="ellipse">
            <a:avLst/>
          </a:prstGeom>
          <a:solidFill>
            <a:srgbClr val="2A6FBB"/>
          </a:solidFill>
          <a:ln w="12700">
            <a:solidFill>
              <a:srgbClr val="2A6FB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0540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p-value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7200" y="3621024"/>
            <a:ext cx="384048" cy="384048"/>
          </a:xfrm>
          <a:prstGeom prst="ellipse">
            <a:avLst/>
          </a:prstGeom>
          <a:solidFill>
            <a:srgbClr val="2A6FBB"/>
          </a:solidFill>
          <a:ln w="12700">
            <a:solidFill>
              <a:srgbClr val="2A6FB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62102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→ reject H0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389120" y="1920240"/>
            <a:ext cx="429768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26280" y="201168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groups: t-test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stats.ttest_ind(old, new)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3+ groups: ANOVA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stats.f_oneway(cse, ece, mech)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p_value &lt; 0.05 → real difference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= chance of seeing this gap if there were truly no difference.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8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7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3: prepare columns for machine learning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 · FEATURE ENGINEERING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 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Used-car data: what is a typical price? How many are manual vs automatic?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column at a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Numeric: describe() + histogram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 value_counts() + bar chart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columns need encoding for ML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1965960"/>
            <a:ext cx="429768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205740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df[["year","km_driven","price_lakh"]]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.describe()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df["transmission"].value_counts()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df["fuel_type"].value_counts()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df["price_lakh"].hist(bins=6)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each column before combining columns.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Encoding: text to numbers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 · FEATURE ENGINEERING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 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transmission and fuel_type so a model can use them.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395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= 1, Automatic = 0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2 categories or ordered ones. Adds a false order for 3+.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474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= LabelEncoder()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le.fit_transform(df["transmission"])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92024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2395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fuel_Diesel, fuel_Petrol, fuel_CNG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2743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0/1 column per category. No false order. Use drop_first=True.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3474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pd.get_dummies(df["fuel_type"],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prefix="fuel", dtype=int)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same scale for all columns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 · FEATURE ENGINEERING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 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km_driven (50,000) would dominate price_lakh (5) in a model. Scale both.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484632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 (Z-score)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MinMaxScaler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 − mean) / std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 − min) / (max − min)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0, std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0 to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Regression, SVM, PCA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nets, fixed 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to outliers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0" y="1920240"/>
            <a:ext cx="3200400" cy="2103120"/>
          </a:xfrm>
          <a:prstGeom prst="roundRect">
            <a:avLst>
              <a:gd name="adj" fmla="val 2609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23560" y="201168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df[["km_s","price_s"]] 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scaler.fit_transform(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df[["km_driven","price_lakh"]])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MinMaxScaler()   # same pattern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changes units, not the shape of the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8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7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4: Matplotlib, Seaborn, storytelling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chart for which question?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 · VISUALIZATION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480560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categories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A6F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over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A6F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of one number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A6F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 / boxplot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of two numbers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A6F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 plot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of a whole (few parts)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A6F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 chart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correlations at once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A6F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Heatmap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5120640" y="1097280"/>
          <a:ext cx="35661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45720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bar chart answers 'which department is best?'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vs Seaborn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 · VISUALIZATION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 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draws anything; Seaborn draws statistics from a DataFrame.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Matplotlib: figure → axes → data → labels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add title, axis labels, units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Seaborn: one line, grouping and colour done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 adds a 3rd variable; heatmap shows correlations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1965960"/>
            <a:ext cx="429768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205740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plt.plot(months, sales, marker="o")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plt.title("Monthly sales")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plt.xlabel("Month")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sns.boxplot(data=df, x="dept", y="marks")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sns.scatterplot(data=df, x="hours",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y="marks", hue="gender")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for control, Seaborn for speed.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charts and storytelling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 · VISUALIZATION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 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'Sales by month' into 'Sales dipped in March; fix delivery delays'.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2024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chart = one message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label: title, axes, units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bar charts at zero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with purpose: hero vs grey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labels instead of legends</a:t>
            </a:r>
            <a:endParaRPr lang="en-US" sz="16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663440" y="1828800"/>
          <a:ext cx="40233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sheet: question → tool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look at a 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df.head(), df.info(), df.describe()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rows by condition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df[df["marks"] &gt; 70]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per group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df.groupby("dept")["marks"].mean()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missing values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df["marks"].fillna(df["marks"].median())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two columns move together?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df["a"].corr(df["b"])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 difference real?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stats.ttest_ind(a, b)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to numbers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pd.get_dummies(df["fuel"])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plt.bar(...), sns.boxplot(...)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turn: practice tasks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09728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2103120" y="109728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 has the best average attendance? Show students with marks below 50.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92024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92024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103120" y="192024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Re-clean messy_data.csv using dropna(). How many rows remain?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7432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274320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103120" y="274320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correlation between study_hours and marks above 0.8? Run a t-test with new mean 66.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56616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35661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6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2103120" y="356616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boxplot of attendance by gender and give it a story title.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2741</Words>
  <Application>Microsoft Office PowerPoint</Application>
  <PresentationFormat>On-screen Show (16:9)</PresentationFormat>
  <Paragraphs>444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Courier New</vt:lpstr>
      <vt:lpstr>Office Theme</vt:lpstr>
      <vt:lpstr>PowerPoint Presentation</vt:lpstr>
      <vt:lpstr>What we will cover</vt:lpstr>
      <vt:lpstr>What is EDA?</vt:lpstr>
      <vt:lpstr>Why Pandas?</vt:lpstr>
      <vt:lpstr>Why NumPy?</vt:lpstr>
      <vt:lpstr>Why Statistics?</vt:lpstr>
      <vt:lpstr>Why Matplotlib and Seaborn?</vt:lpstr>
      <vt:lpstr>PowerPoint Presentation</vt:lpstr>
      <vt:lpstr>Series: one labelled column</vt:lpstr>
      <vt:lpstr>DataFrame: a whole table</vt:lpstr>
      <vt:lpstr>Indexing: pick what you need</vt:lpstr>
      <vt:lpstr>Row and column operations</vt:lpstr>
      <vt:lpstr>apply, lambda and map</vt:lpstr>
      <vt:lpstr>groupby: split, calculate, combine</vt:lpstr>
      <vt:lpstr>Cleaning: real data is messy</vt:lpstr>
      <vt:lpstr>PowerPoint Presentation</vt:lpstr>
      <vt:lpstr>Descriptive statistics</vt:lpstr>
      <vt:lpstr>Bivariate analysis</vt:lpstr>
      <vt:lpstr>Hypothesis testing</vt:lpstr>
      <vt:lpstr>PowerPoint Presentation</vt:lpstr>
      <vt:lpstr>Univariate analysis</vt:lpstr>
      <vt:lpstr>Encoding: text to numbers</vt:lpstr>
      <vt:lpstr>Scaling: same scale for all columns</vt:lpstr>
      <vt:lpstr>PowerPoint Presentation</vt:lpstr>
      <vt:lpstr>Which chart for which question?</vt:lpstr>
      <vt:lpstr>Matplotlib vs Seaborn</vt:lpstr>
      <vt:lpstr>Effective charts and storytelling</vt:lpstr>
      <vt:lpstr>Cheat sheet: question → tool</vt:lpstr>
      <vt:lpstr>Your turn: practice tasks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 with Python</dc:title>
  <dc:subject>PptxGenJS Presentation</dc:subject>
  <dc:creator>PptxGenJS</dc:creator>
  <cp:lastModifiedBy>Gautham V</cp:lastModifiedBy>
  <cp:revision>2</cp:revision>
  <dcterms:created xsi:type="dcterms:W3CDTF">2026-10-08T01:54:18Z</dcterms:created>
  <dcterms:modified xsi:type="dcterms:W3CDTF">2026-10-08T02:59:51Z</dcterms:modified>
</cp:coreProperties>
</file>